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시장규모</c:v>
                </c:pt>
              </c:strCache>
            </c:strRef>
          </c:tx>
          <c:spPr>
            <a:solidFill>
              <a:srgbClr val="91AD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58742E"/>
                    </a:solidFill>
                    <a:latin typeface="Noto Sans KR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2022년</c:v>
                  </c:pt>
                  <c:pt idx="1">
                    <c:v>2025 추정</c:v>
                  </c:pt>
                  <c:pt idx="2">
                    <c:v>2032 전망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8.5</c:v>
                </c:pt>
                <c:pt idx="1">
                  <c:v>6.2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58742E"/>
                  </a:solidFill>
                  <a:latin typeface="Noto Sans K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887F"/>
                </a:solidFill>
                <a:latin typeface="Noto Sans K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1AD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808415" y="914400"/>
            <a:ext cx="3108960" cy="310896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7619695" y="3749040"/>
            <a:ext cx="1371600" cy="1371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40080" y="1234440"/>
            <a:ext cx="868680" cy="868680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1453896"/>
            <a:ext cx="429768" cy="42976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DOG'S POV DIARY</a:t>
            </a:r>
            <a:endParaRPr lang="en-US" sz="1300" dirty="0"/>
          </a:p>
        </p:txBody>
      </p:sp>
      <p:sp>
        <p:nvSpPr>
          <p:cNvPr id="8" name="Text 3"/>
          <p:cNvSpPr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강아지의 </a:t>
            </a:r>
            <a:pPr indent="0" marL="0">
              <a:buNone/>
            </a:pPr>
            <a:r>
              <a:rPr lang="en-US" sz="66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</a:t>
            </a:r>
            <a:endParaRPr lang="en-US" sz="6600" dirty="0"/>
          </a:p>
        </p:txBody>
      </p:sp>
      <p:sp>
        <p:nvSpPr>
          <p:cNvPr id="9" name="Text 4"/>
          <p:cNvSpPr/>
          <p:nvPr/>
        </p:nvSpPr>
        <p:spPr>
          <a:xfrm>
            <a:off x="64008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DE7C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강아지가 직접 쓰는 1인칭 일기장 + 가족이 함께 보는 반려 다이어리"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64008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B6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 한 장과 오늘의 기분만 고르면, AI가 우리 아이 말투로 일기를 써주는 감성 반려 플랫폼</a:t>
            </a:r>
            <a:endParaRPr lang="en-US" sz="1350" dirty="0"/>
          </a:p>
        </p:txBody>
      </p:sp>
      <p:sp>
        <p:nvSpPr>
          <p:cNvPr id="11" name="Shape 6"/>
          <p:cNvSpPr/>
          <p:nvPr/>
        </p:nvSpPr>
        <p:spPr>
          <a:xfrm>
            <a:off x="640080" y="5806440"/>
            <a:ext cx="3840480" cy="0"/>
          </a:xfrm>
          <a:prstGeom prst="line">
            <a:avLst/>
          </a:prstGeom>
          <a:noFill/>
          <a:ln w="12700">
            <a:solidFill>
              <a:srgbClr val="55663A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4008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Pitch Deck v1.0  ·  2026.05  ·  견정사 — 강아지의 시선 TF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펫 앱은 '감성적 교류'를 채우지 못한다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350008"/>
            <a:ext cx="603504" cy="603504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4963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3017520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감성 교류의 부재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41832" y="342900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펫프렌즈·핏펫 등 기존 앱은 커머스·등록·헬스케어 중심. 보호자의 감성적 교류 욕구를 채우지 못한다.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3938" y="205740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5690" y="2350008"/>
            <a:ext cx="603504" cy="603504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994" y="249631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5690" y="3017520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기록의 지속 실패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85690" y="342900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글 기반 SNS는 작성 부담이 커서 반려 일상 기록이 며칠 못 가 멈춘다. '쓰기 귀찮음'이 핵심 장벽.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7797" y="2057400"/>
            <a:ext cx="3423818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29549" y="2350008"/>
            <a:ext cx="603504" cy="603504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5853" y="24963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9549" y="3017520"/>
            <a:ext cx="28203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공유 도구 부재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29549" y="3429000"/>
            <a:ext cx="28751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591만 가구가 한 마리를 함께 키우지만, 엄마·아빠가 상태를 실시간 공유할 자연스러운 도구가 없다.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911535" cy="960120"/>
          </a:xfrm>
          <a:prstGeom prst="roundRect">
            <a:avLst>
              <a:gd name="adj" fmla="val 7619"/>
            </a:avLst>
          </a:prstGeom>
          <a:solidFill>
            <a:srgbClr val="2E3D1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53949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5138928"/>
            <a:ext cx="96313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</a:t>
            </a:r>
            <a:pPr indent="0" marL="0">
              <a:buNone/>
            </a:pPr>
            <a:r>
              <a:rPr lang="en-US" sz="140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보호자는 '우리 아이의 하루'를 기록하고 가족과 나누고 싶지만, 마땅한 도구가 없어 카톡·갤러리에 흩어진다.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강아지의 시선으로 소통하는 몰입형 감성 다이어리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818120" cy="1143000"/>
          </a:xfrm>
          <a:prstGeom prst="roundRect">
            <a:avLst>
              <a:gd name="adj" fmla="val 8000"/>
            </a:avLst>
          </a:prstGeom>
          <a:solidFill>
            <a:srgbClr val="EFF5E1"/>
          </a:solidFill>
          <a:ln w="12700">
            <a:solidFill>
              <a:srgbClr val="91AD4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848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73736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"사진 1장 + 감정 이모지"만 고르면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우리 강아지가 1인칭으로 쓴 짧은 일기가 완성된다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3대 차별화 포인트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520440"/>
            <a:ext cx="2423160" cy="25146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41832" y="3813048"/>
            <a:ext cx="603504" cy="603504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95935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41832" y="448056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 빙의 UI/UX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41832" y="489204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글 작성을 버리고 [사진+이모지] 중심의 강아지 1인칭 독백. 앱을 켜면 '보리의 머릿속'이 먼저 말을 건넨다.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3337560" y="3520440"/>
            <a:ext cx="2423160" cy="25146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39312" y="3813048"/>
            <a:ext cx="603504" cy="603504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3959352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448056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사생활 보호 토글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639312" y="489204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동선 노출 부담을 없애고, 산책할 때만 켜는 '안심 ON/OFF'. 규제 리스크는 단계적으로 분리한다.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035040" y="3520440"/>
            <a:ext cx="2423160" cy="25146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336792" y="3813048"/>
            <a:ext cx="603504" cy="603504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395935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36792" y="4480560"/>
            <a:ext cx="1819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공동육아 동기화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336792" y="489204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엄마·아빠·누나가 하나의 강아지 프로필을 실시간 공동 관리. 한 명이 가입하면 가족을 초대.</a:t>
            </a:r>
            <a:endParaRPr lang="en-US" sz="1080" dirty="0"/>
          </a:p>
        </p:txBody>
      </p:sp>
      <p:sp>
        <p:nvSpPr>
          <p:cNvPr id="23" name="Shape 17"/>
          <p:cNvSpPr/>
          <p:nvPr/>
        </p:nvSpPr>
        <p:spPr>
          <a:xfrm>
            <a:off x="9226296" y="1865376"/>
            <a:ext cx="1921383" cy="3721608"/>
          </a:xfrm>
          <a:prstGeom prst="roundRect">
            <a:avLst>
              <a:gd name="adj" fmla="val 5711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pic>
        <p:nvPicPr>
          <p:cNvPr id="24" name="Image 4" descr="Z:\VibeCoding\puppyrecord_gyeonjungsa\.claude\worktrees\condescending-rhodes-70dd9a\build\shots\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965960"/>
            <a:ext cx="1720215" cy="35204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69680" y="5669280"/>
            <a:ext cx="2634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보리의 머릿속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 작동하는 프로토타입 — 5개 핵심 화면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436815" y="685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tinklewhale.github.io/puppyrecord_gyeonjungsa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9496" y="1682496"/>
            <a:ext cx="1697978" cy="3264408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pic>
        <p:nvPicPr>
          <p:cNvPr id="6" name="Image 0" descr="Z:\VibeCoding\puppyrecord_gyeonjungsa\.claude\worktrees\condescending-rhodes-70dd9a\build\sho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149681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5029200"/>
            <a:ext cx="241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홈 · 보리의 머릿속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93177" y="1682496"/>
            <a:ext cx="1697978" cy="3264408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pic>
        <p:nvPicPr>
          <p:cNvPr id="9" name="Image 1" descr="Z:\VibeCoding\puppyrecord_gyeonjungsa\.claude\worktrees\condescending-rhodes-70dd9a\build\shots\diary_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761" y="1783080"/>
            <a:ext cx="1496810" cy="3063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536561" y="5029200"/>
            <a:ext cx="241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1인칭 일기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246858" y="1682496"/>
            <a:ext cx="1697978" cy="3264408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pic>
        <p:nvPicPr>
          <p:cNvPr id="12" name="Image 2" descr="Z:\VibeCoding\puppyrecord_gyeonjungsa\.claude\worktrees\condescending-rhodes-70dd9a\build\shots\wal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442" y="1783080"/>
            <a:ext cx="1496810" cy="3063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90242" y="5029200"/>
            <a:ext cx="241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산책 기록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7600540" y="1682496"/>
            <a:ext cx="1697978" cy="3264408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pic>
        <p:nvPicPr>
          <p:cNvPr id="15" name="Image 3" descr="Z:\VibeCoding\puppyrecord_gyeonjungsa\.claude\worktrees\condescending-rhodes-70dd9a\build\shots\famil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1124" y="1783080"/>
            <a:ext cx="1496810" cy="30632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43924" y="5029200"/>
            <a:ext cx="241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공동육아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9954221" y="1682496"/>
            <a:ext cx="1697978" cy="3264408"/>
          </a:xfrm>
          <a:prstGeom prst="roundRect">
            <a:avLst>
              <a:gd name="adj" fmla="val 6462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pic>
        <p:nvPicPr>
          <p:cNvPr id="18" name="Image 4" descr="Z:\VibeCoding\puppyrecord_gyeonjungsa\.claude\worktrees\condescending-rhodes-70dd9a\build\shots\prof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4805" y="1783080"/>
            <a:ext cx="1496810" cy="30632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9597605" y="5029200"/>
            <a:ext cx="24112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· 성장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640080" y="5440680"/>
            <a:ext cx="10911535" cy="868680"/>
          </a:xfrm>
          <a:prstGeom prst="roundRect">
            <a:avLst>
              <a:gd name="adj" fmla="val 8421"/>
            </a:avLst>
          </a:prstGeom>
          <a:solidFill>
            <a:srgbClr val="F7E3C5"/>
          </a:solidFill>
          <a:ln/>
        </p:spPr>
      </p:sp>
      <p:sp>
        <p:nvSpPr>
          <p:cNvPr id="21" name="Text 14"/>
          <p:cNvSpPr/>
          <p:nvPr/>
        </p:nvSpPr>
        <p:spPr>
          <a:xfrm>
            <a:off x="1005840" y="544068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설계가 UI에 박혀 있다  </a:t>
            </a:r>
            <a:pPr indent="0" marL="0">
              <a:buNone/>
            </a:pPr>
            <a:r>
              <a:rPr lang="en-US" sz="1300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산책 화면은 '나의 기록(Phase 1)'과 '동네 친구 지도(Phase 2·잠금)'를 탭으로 분리하고, 위치 토글은 '산책 중에만·근사위치·상호동의'를 카피로 명시한다.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3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엔진 — '우리 아이 고유의 말투'를 학습하는 AI 일기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779971" cy="1554480"/>
          </a:xfrm>
          <a:prstGeom prst="roundRect">
            <a:avLst>
              <a:gd name="adj" fmla="val 5882"/>
            </a:avLst>
          </a:prstGeom>
          <a:solidFill>
            <a:srgbClr val="3D5122"/>
          </a:solidFill>
          <a:ln w="12700">
            <a:solidFill>
              <a:srgbClr val="5C71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7458" y="2148840"/>
            <a:ext cx="585216" cy="585216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618" y="22860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07208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304495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사진+감정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+키워드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493203" y="23774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2922971" y="1965960"/>
            <a:ext cx="1779971" cy="1554480"/>
          </a:xfrm>
          <a:prstGeom prst="roundRect">
            <a:avLst>
              <a:gd name="adj" fmla="val 5882"/>
            </a:avLst>
          </a:prstGeom>
          <a:solidFill>
            <a:srgbClr val="3D5122"/>
          </a:solidFill>
          <a:ln w="12700">
            <a:solidFill>
              <a:srgbClr val="5C713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349" y="2148840"/>
            <a:ext cx="585216" cy="585216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09" y="228600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22971" y="2807208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 프로필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922971" y="304495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 MBTI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+과거 일기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776094" y="23774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5205862" y="1965960"/>
            <a:ext cx="1779971" cy="1554480"/>
          </a:xfrm>
          <a:prstGeom prst="roundRect">
            <a:avLst>
              <a:gd name="adj" fmla="val 5882"/>
            </a:avLst>
          </a:prstGeom>
          <a:solidFill>
            <a:srgbClr val="3D5122"/>
          </a:solidFill>
          <a:ln w="12700">
            <a:solidFill>
              <a:srgbClr val="5C713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03240" y="2148840"/>
            <a:ext cx="585216" cy="585216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400" y="228600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05862" y="2807208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생성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205862" y="304495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1인칭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 말투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058985" y="23774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7488753" y="1965960"/>
            <a:ext cx="1779971" cy="1554480"/>
          </a:xfrm>
          <a:prstGeom prst="roundRect">
            <a:avLst>
              <a:gd name="adj" fmla="val 5882"/>
            </a:avLst>
          </a:prstGeom>
          <a:solidFill>
            <a:srgbClr val="3D5122"/>
          </a:solidFill>
          <a:ln w="12700">
            <a:solidFill>
              <a:srgbClr val="5C713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86131" y="2148840"/>
            <a:ext cx="585216" cy="585216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291" y="2286000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88753" y="2807208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필터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488753" y="304495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3계층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금칙어 방어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341876" y="2377440"/>
            <a:ext cx="356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2"/>
          <p:cNvSpPr/>
          <p:nvPr/>
        </p:nvSpPr>
        <p:spPr>
          <a:xfrm>
            <a:off x="9771644" y="1965960"/>
            <a:ext cx="1779971" cy="1554480"/>
          </a:xfrm>
          <a:prstGeom prst="roundRect">
            <a:avLst>
              <a:gd name="adj" fmla="val 5882"/>
            </a:avLst>
          </a:prstGeom>
          <a:solidFill>
            <a:srgbClr val="3D5122"/>
          </a:solidFill>
          <a:ln w="12700">
            <a:solidFill>
              <a:srgbClr val="5C713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69022" y="2148840"/>
            <a:ext cx="585216" cy="585216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6182" y="2286000"/>
            <a:ext cx="310896" cy="31089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771644" y="2807208"/>
            <a:ext cx="17799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표시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771644" y="3044952"/>
            <a:ext cx="177997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🐾 AI가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B9C7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작성했어요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40080" y="3931920"/>
            <a:ext cx="7589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96112" y="4197096"/>
            <a:ext cx="548640" cy="54864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4334256"/>
            <a:ext cx="274320" cy="2743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1600200" y="40782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 MBTI로 성격 설정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1600200" y="444398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에너지·애정·호기심·식탐·사회성 5축 설문으로 초기 페르소나 생성. "보리는 활발한 탐험가 애교쟁이!" 결과 카드로 완료율↑·공유 바이럴↑.</a:t>
            </a:r>
            <a:endParaRPr lang="en-US" sz="1080" dirty="0"/>
          </a:p>
        </p:txBody>
      </p:sp>
      <p:sp>
        <p:nvSpPr>
          <p:cNvPr id="38" name="Shape 30"/>
          <p:cNvSpPr/>
          <p:nvPr/>
        </p:nvSpPr>
        <p:spPr>
          <a:xfrm>
            <a:off x="640080" y="5212080"/>
            <a:ext cx="758952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896112" y="5477256"/>
            <a:ext cx="548640" cy="54864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272" y="5614416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600200" y="535838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편집이 곧 학습 (파인튜닝 X)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1600200" y="5724144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견주가 고쳐 쓴 문장 = 가장 강력한 정답 데이터. 다음 생성에 few-shot 주입 → 점점 '우리 아이 말투'로 수렴. 비용·동의 부담 회피.</a:t>
            </a:r>
            <a:endParaRPr lang="en-US" sz="1080" dirty="0"/>
          </a:p>
        </p:txBody>
      </p:sp>
      <p:sp>
        <p:nvSpPr>
          <p:cNvPr id="43" name="Text 34"/>
          <p:cNvSpPr/>
          <p:nvPr/>
        </p:nvSpPr>
        <p:spPr>
          <a:xfrm>
            <a:off x="640080" y="659282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B0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MVP는 파인튜닝·RAG 없이 '구조화 프롬프트 + 최근 일기 주입'으로 충분 → RAG는 Phase 1 과제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9382440" y="3511296"/>
            <a:ext cx="1519255" cy="2898648"/>
          </a:xfrm>
          <a:prstGeom prst="roundRect">
            <a:avLst>
              <a:gd name="adj" fmla="val 7222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pic>
        <p:nvPicPr>
          <p:cNvPr id="45" name="Image 7" descr="Z:\VibeCoding\puppyrecord_gyeonjungsa\.claude\worktrees\condescending-rhodes-70dd9a\build\shots\diary_resul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3024" y="3611880"/>
            <a:ext cx="1318087" cy="269748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9025824" y="6492240"/>
            <a:ext cx="2232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써준 1인칭 일기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크고, 빠르게 자라는 시장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286000"/>
            <a:ext cx="91440" cy="105156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677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21조원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78408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2032년 국내 반려동물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연관산업 전망 (삼정KPMG)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03320" y="201168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03320" y="2286000"/>
            <a:ext cx="91440" cy="105156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0" y="22677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1,546만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041648" y="29260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반려인 (총인구 29.9%)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591만 가구 (KB금융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4206240"/>
            <a:ext cx="91440" cy="105156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187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19.4만원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978408" y="4846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가구 월평균 양육비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지출 카테고리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03320" y="393192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03320" y="4206240"/>
            <a:ext cx="91440" cy="1051560"/>
          </a:xfrm>
          <a:prstGeom prst="rect">
            <a:avLst/>
          </a:prstGeom>
          <a:solidFill>
            <a:srgbClr val="E08A3C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0" y="41879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90%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4041648" y="48463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펫 앱 사용자 20~40대 집중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(여성 72%) — 타깃과 일치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40880" y="2011680"/>
            <a:ext cx="4510735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0" y="22128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연관산업 시장 규모 (조원)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178040" y="2560320"/>
          <a:ext cx="423641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40080" y="566928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2E3D16"/>
          </a:solidFill>
          <a:ln/>
        </p:spPr>
      </p:sp>
      <p:sp>
        <p:nvSpPr>
          <p:cNvPr id="24" name="Text 21"/>
          <p:cNvSpPr/>
          <p:nvPr/>
        </p:nvSpPr>
        <p:spPr>
          <a:xfrm>
            <a:off x="1005840" y="566928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커뮤니티 단독 수익화는 한계 </a:t>
            </a:r>
            <a:pPr indent="0" marL="0">
              <a:buNone/>
            </a:pPr>
            <a:r>
              <a:rPr lang="en-US" sz="125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 검증된 국내 경쟁사는 모두 커머스·등록·헬스케어 엔진 보유. 우리도 꾸미기·구독 하이브리드로 초기부터 설계한다.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경쟁자가 비워둔 단 하나의 칸 — '감성 콘텐츠'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85216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94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플레이어는 모두 '수익 엔진'이 본업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05840" y="2752344"/>
            <a:ext cx="146304" cy="146304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697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펫프렌즈  </a:t>
            </a:r>
            <a:pPr indent="0" marL="0">
              <a:buNone/>
            </a:pPr>
            <a:r>
              <a:rPr lang="en-US" sz="12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종합 커머스 · 점유율 37.6%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227832"/>
            <a:ext cx="146304" cy="146304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1729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포동(Podo)  </a:t>
            </a:r>
            <a:pPr indent="0" marL="0">
              <a:buNone/>
            </a:pPr>
            <a:r>
              <a:rPr lang="en-US" sz="12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60만 보호자 정보 커뮤니티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5840" y="3703320"/>
            <a:ext cx="146304" cy="146304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6484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펫피(Petp)  </a:t>
            </a:r>
            <a:pPr indent="0" marL="0">
              <a:buNone/>
            </a:pPr>
            <a:r>
              <a:rPr lang="en-US" sz="12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산책 리워드 + 소셜 · 30만 DL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05840" y="4178808"/>
            <a:ext cx="146304" cy="146304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2394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페오펫  </a:t>
            </a:r>
            <a:pPr indent="0" marL="0">
              <a:buNone/>
            </a:pPr>
            <a:r>
              <a:rPr lang="en-US" sz="12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동물등록 1위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4654296"/>
            <a:ext cx="146304" cy="146304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4599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핏펫  </a:t>
            </a:r>
            <a:pPr indent="0" marL="0">
              <a:buNone/>
            </a:pPr>
            <a:r>
              <a:rPr lang="en-US" sz="12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헬스케어 · 검진 키트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05840" y="5129784"/>
            <a:ext cx="146304" cy="146304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5074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해외 (Dogo·BarkHappy·Tractive)  </a:t>
            </a:r>
            <a:pPr indent="0" marL="0">
              <a:buNone/>
            </a:pPr>
            <a:r>
              <a:rPr lang="en-US" sz="12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훈련/위치/GPS — 결합 모델 부재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1965960"/>
            <a:ext cx="4602175" cy="3657600"/>
          </a:xfrm>
          <a:prstGeom prst="roundRect">
            <a:avLst>
              <a:gd name="adj" fmla="val 2500"/>
            </a:avLst>
          </a:prstGeom>
          <a:solidFill>
            <a:srgbClr val="EFF5E1"/>
          </a:solidFill>
          <a:ln w="19050">
            <a:solidFill>
              <a:srgbClr val="91AD4B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47608" y="2377440"/>
            <a:ext cx="1005840" cy="1005840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6208" y="2624328"/>
            <a:ext cx="548640" cy="51206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949440" y="3520440"/>
            <a:ext cx="4602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빈 시장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7223760" y="4023360"/>
            <a:ext cx="4053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감성 콘텐츠</a:t>
            </a:r>
            <a:endParaRPr lang="en-US" sz="15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(강아지 빙의 + AI 1인칭 일기)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223760" y="4800600"/>
            <a:ext cx="4053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국내외 직접 경쟁자 없음.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정면충돌을 피해 단독 점유한다.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 감성 콘텐츠로 리텐션 → 꾸미기·구독으로 수익화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0" cy="4160520"/>
          </a:xfrm>
          <a:prstGeom prst="roundRect">
            <a:avLst>
              <a:gd name="adj" fmla="val 2667"/>
            </a:avLst>
          </a:prstGeom>
          <a:solidFill>
            <a:srgbClr val="2E3D16"/>
          </a:solidFill>
          <a:ln/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25420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 기반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캐릭터 꾸미기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005840" y="338328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 아바타를 의상·배경·테마로 꾸미고, 결과를 홈·AI 일기 썸네일에 반영 → 꾸미고 싶은 동기 극대화.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포인트 획득 2경로
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현금 충전 (인앱결제)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리워드 광고 시청 (일 5회 상한)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120640" y="1920240"/>
            <a:ext cx="3078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49240" y="2167128"/>
            <a:ext cx="502920" cy="5029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6" y="2295144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989320" y="2103120"/>
            <a:ext cx="20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프리미엄 구독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989320" y="2468880"/>
            <a:ext cx="202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일기 무제한·광고 제거·월간 앨범. AI 원가 전가.</a:t>
            </a:r>
            <a:endParaRPr lang="en-US" sz="1030" dirty="0"/>
          </a:p>
        </p:txBody>
      </p:sp>
      <p:sp>
        <p:nvSpPr>
          <p:cNvPr id="15" name="Shape 11"/>
          <p:cNvSpPr/>
          <p:nvPr/>
        </p:nvSpPr>
        <p:spPr>
          <a:xfrm>
            <a:off x="8427568" y="1920240"/>
            <a:ext cx="3078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56168" y="2167128"/>
            <a:ext cx="502920" cy="5029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4184" y="2295144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96248" y="2103120"/>
            <a:ext cx="20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커머스 · 제휴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296248" y="2468880"/>
            <a:ext cx="202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견종·생애주기 맞춤 추천. 일기 맥락 기반 어필리에이트.</a:t>
            </a:r>
            <a:endParaRPr lang="en-US" sz="1030" dirty="0"/>
          </a:p>
        </p:txBody>
      </p:sp>
      <p:sp>
        <p:nvSpPr>
          <p:cNvPr id="20" name="Shape 15"/>
          <p:cNvSpPr/>
          <p:nvPr/>
        </p:nvSpPr>
        <p:spPr>
          <a:xfrm>
            <a:off x="5120640" y="3447288"/>
            <a:ext cx="3078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349240" y="3694176"/>
            <a:ext cx="502920" cy="5029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7256" y="3822192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989320" y="3630168"/>
            <a:ext cx="20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굿즈 · 포토북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989320" y="3995928"/>
            <a:ext cx="202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쌓인 일기·사진 → 포토북·굿즈. 주문형, 재고 0.</a:t>
            </a:r>
            <a:endParaRPr lang="en-US" sz="1030" dirty="0"/>
          </a:p>
        </p:txBody>
      </p:sp>
      <p:sp>
        <p:nvSpPr>
          <p:cNvPr id="25" name="Shape 19"/>
          <p:cNvSpPr/>
          <p:nvPr/>
        </p:nvSpPr>
        <p:spPr>
          <a:xfrm>
            <a:off x="8427568" y="3447288"/>
            <a:ext cx="3078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656168" y="3694176"/>
            <a:ext cx="502920" cy="5029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4184" y="3822192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96248" y="3630168"/>
            <a:ext cx="20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B2B 제휴 · 광고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296248" y="3995928"/>
            <a:ext cx="202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동물병원·펫샵·보험 입점. Phase 2 지역 쿠폰.</a:t>
            </a:r>
            <a:endParaRPr lang="en-US" sz="1030" dirty="0"/>
          </a:p>
        </p:txBody>
      </p:sp>
      <p:sp>
        <p:nvSpPr>
          <p:cNvPr id="30" name="Shape 23"/>
          <p:cNvSpPr/>
          <p:nvPr/>
        </p:nvSpPr>
        <p:spPr>
          <a:xfrm>
            <a:off x="5120640" y="4974336"/>
            <a:ext cx="3078328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349240" y="5221224"/>
            <a:ext cx="502920" cy="5029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256" y="5349240"/>
            <a:ext cx="246888" cy="2468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989320" y="5157216"/>
            <a:ext cx="2072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 · 헬스케어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989320" y="5522976"/>
            <a:ext cx="202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칩 + 생체데이터 구독 (Phase 3).</a:t>
            </a:r>
            <a:endParaRPr lang="en-US" sz="1030" dirty="0"/>
          </a:p>
        </p:txBody>
      </p:sp>
      <p:sp>
        <p:nvSpPr>
          <p:cNvPr id="35" name="Shape 27"/>
          <p:cNvSpPr/>
          <p:nvPr/>
        </p:nvSpPr>
        <p:spPr>
          <a:xfrm>
            <a:off x="8427568" y="4974336"/>
            <a:ext cx="3078328" cy="1298448"/>
          </a:xfrm>
          <a:prstGeom prst="roundRect">
            <a:avLst>
              <a:gd name="adj" fmla="val 5634"/>
            </a:avLst>
          </a:prstGeom>
          <a:solidFill>
            <a:srgbClr val="F7E3C5"/>
          </a:solidFill>
          <a:ln/>
        </p:spPr>
      </p:sp>
      <p:sp>
        <p:nvSpPr>
          <p:cNvPr id="36" name="Text 28"/>
          <p:cNvSpPr/>
          <p:nvPr/>
        </p:nvSpPr>
        <p:spPr>
          <a:xfrm>
            <a:off x="8701888" y="4974336"/>
            <a:ext cx="26211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 확률형(랜덤박스) 미적용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감성 경험은 항상 무료 유지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리스크를 분리한 4단계 빌드업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66862" y="1874520"/>
            <a:ext cx="8457971" cy="0"/>
          </a:xfrm>
          <a:prstGeom prst="line">
            <a:avLst/>
          </a:prstGeom>
          <a:noFill/>
          <a:ln w="25400">
            <a:solidFill>
              <a:srgbClr val="91AD4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738846" y="1746504"/>
            <a:ext cx="256032" cy="256032"/>
          </a:xfrm>
          <a:prstGeom prst="ellipse">
            <a:avLst/>
          </a:prstGeom>
          <a:solidFill>
            <a:srgbClr val="E08A3C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03120"/>
            <a:ext cx="2453564" cy="3657600"/>
          </a:xfrm>
          <a:prstGeom prst="roundRect">
            <a:avLst>
              <a:gd name="adj" fmla="val 3727"/>
            </a:avLst>
          </a:prstGeom>
          <a:solidFill>
            <a:srgbClr val="2E3D16"/>
          </a:solidFill>
          <a:ln w="12700">
            <a:solidFill>
              <a:srgbClr val="2E3D16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395728"/>
            <a:ext cx="640080" cy="640080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60320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15468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3401568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393192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7D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지금~약 3개월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425196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C7D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 없이 감성 3종 + 가족 동기화. AI 표시 의무만 준수. 노코드로 핵심 가설 검증.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914400" y="5303520"/>
            <a:ext cx="1904924" cy="310896"/>
          </a:xfrm>
          <a:prstGeom prst="roundRect">
            <a:avLst>
              <a:gd name="adj" fmla="val 14706"/>
            </a:avLst>
          </a:prstGeom>
          <a:solidFill>
            <a:srgbClr val="91AD4B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5303520"/>
            <a:ext cx="190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3D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 불필요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58170" y="1746504"/>
            <a:ext cx="256032" cy="256032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16" name="Shape 13"/>
          <p:cNvSpPr/>
          <p:nvPr/>
        </p:nvSpPr>
        <p:spPr>
          <a:xfrm>
            <a:off x="3459404" y="2103120"/>
            <a:ext cx="2453564" cy="365760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733724" y="2395728"/>
            <a:ext cx="640080" cy="64008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316" y="256032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33724" y="315468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1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733724" y="3401568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산책 기록 · 수익화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3733724" y="393192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PMF 신호 후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3733724" y="425196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본인·가족 한정 산책 기록. 포인트·구독 수익화 검증. RAG 메모리 도입.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3733724" y="5303520"/>
            <a:ext cx="1904924" cy="310896"/>
          </a:xfrm>
          <a:prstGeom prst="roundRect">
            <a:avLst>
              <a:gd name="adj" fmla="val 14706"/>
            </a:avLst>
          </a:prstGeom>
          <a:solidFill>
            <a:srgbClr val="EFF5E1"/>
          </a:solidFill>
          <a:ln/>
        </p:spPr>
      </p:sp>
      <p:sp>
        <p:nvSpPr>
          <p:cNvPr id="24" name="Text 20"/>
          <p:cNvSpPr/>
          <p:nvPr/>
        </p:nvSpPr>
        <p:spPr>
          <a:xfrm>
            <a:off x="3733724" y="5303520"/>
            <a:ext cx="190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위치신고 착수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7377494" y="1746504"/>
            <a:ext cx="256032" cy="256032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26" name="Shape 22"/>
          <p:cNvSpPr/>
          <p:nvPr/>
        </p:nvSpPr>
        <p:spPr>
          <a:xfrm>
            <a:off x="6278728" y="2103120"/>
            <a:ext cx="2453564" cy="365760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553048" y="2395728"/>
            <a:ext cx="640080" cy="64008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40" y="2560320"/>
            <a:ext cx="310896" cy="31089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53048" y="315468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2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553048" y="3401568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동네 친구 지도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6553048" y="393192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신고·안전설계 후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553048" y="425196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근사위치·상호동의·기본OFF·14세미만차단·즉시숨김. 100m 조우 푸시.</a:t>
            </a:r>
            <a:endParaRPr lang="en-US" sz="1080" dirty="0"/>
          </a:p>
        </p:txBody>
      </p:sp>
      <p:sp>
        <p:nvSpPr>
          <p:cNvPr id="33" name="Shape 28"/>
          <p:cNvSpPr/>
          <p:nvPr/>
        </p:nvSpPr>
        <p:spPr>
          <a:xfrm>
            <a:off x="6553048" y="5303520"/>
            <a:ext cx="1904924" cy="310896"/>
          </a:xfrm>
          <a:prstGeom prst="roundRect">
            <a:avLst>
              <a:gd name="adj" fmla="val 14706"/>
            </a:avLst>
          </a:prstGeom>
          <a:solidFill>
            <a:srgbClr val="EFF5E1"/>
          </a:solidFill>
          <a:ln/>
        </p:spPr>
      </p:sp>
      <p:sp>
        <p:nvSpPr>
          <p:cNvPr id="34" name="Text 29"/>
          <p:cNvSpPr/>
          <p:nvPr/>
        </p:nvSpPr>
        <p:spPr>
          <a:xfrm>
            <a:off x="6553048" y="5303520"/>
            <a:ext cx="190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위치신고 필수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10196817" y="1746504"/>
            <a:ext cx="256032" cy="256032"/>
          </a:xfrm>
          <a:prstGeom prst="ellipse">
            <a:avLst/>
          </a:prstGeom>
          <a:solidFill>
            <a:srgbClr val="91AD4B"/>
          </a:solidFill>
          <a:ln/>
        </p:spPr>
      </p:sp>
      <p:sp>
        <p:nvSpPr>
          <p:cNvPr id="36" name="Shape 31"/>
          <p:cNvSpPr/>
          <p:nvPr/>
        </p:nvSpPr>
        <p:spPr>
          <a:xfrm>
            <a:off x="9098051" y="2103120"/>
            <a:ext cx="2453564" cy="365760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9372371" y="2395728"/>
            <a:ext cx="640080" cy="64008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963" y="2560320"/>
            <a:ext cx="310896" cy="31089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372371" y="315468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3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9372371" y="3401568"/>
            <a:ext cx="19963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웨어러블 융합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9372371" y="3931920"/>
            <a:ext cx="19963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</a:t>
            </a:r>
            <a:endParaRPr lang="en-US" sz="1050" dirty="0"/>
          </a:p>
        </p:txBody>
      </p:sp>
      <p:sp>
        <p:nvSpPr>
          <p:cNvPr id="42" name="Text 36"/>
          <p:cNvSpPr/>
          <p:nvPr/>
        </p:nvSpPr>
        <p:spPr>
          <a:xfrm>
            <a:off x="9372371" y="425196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스마트 목걸이 칩 + 심박·체온·활동량을 강아지가 1인칭으로 말하는 테크-감성 융합.</a:t>
            </a:r>
            <a:endParaRPr lang="en-US" sz="1080" dirty="0"/>
          </a:p>
        </p:txBody>
      </p:sp>
      <p:sp>
        <p:nvSpPr>
          <p:cNvPr id="43" name="Shape 37"/>
          <p:cNvSpPr/>
          <p:nvPr/>
        </p:nvSpPr>
        <p:spPr>
          <a:xfrm>
            <a:off x="9372371" y="5303520"/>
            <a:ext cx="1904924" cy="310896"/>
          </a:xfrm>
          <a:prstGeom prst="roundRect">
            <a:avLst>
              <a:gd name="adj" fmla="val 14706"/>
            </a:avLst>
          </a:prstGeom>
          <a:solidFill>
            <a:srgbClr val="EFF5E1"/>
          </a:solidFill>
          <a:ln/>
        </p:spPr>
      </p:sp>
      <p:sp>
        <p:nvSpPr>
          <p:cNvPr id="44" name="Text 38"/>
          <p:cNvSpPr/>
          <p:nvPr/>
        </p:nvSpPr>
        <p:spPr>
          <a:xfrm>
            <a:off x="9372371" y="5303520"/>
            <a:ext cx="19049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640080" y="6080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 검증 질문: "강아지 1인칭 일기를 매일 쓰게 되는가?" → 일기 생성률 · D7 리텐션으로 판정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3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 &amp; COMPLIANCE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리스크를 설계로 통제한다 — 특히 '위치'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강아지의 실시간 위치 = 사실상 사람의 실시간 위치. 모든 최대 리스크가 '위치'에 집중 → MVP에서 분리한다.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453564" cy="31089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658368" cy="658368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59689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46120"/>
            <a:ext cx="19506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위치정보법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19506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개인위치정보 수집 시 방통위 신고 의무(미신고 3년↓/3천만원↓). MVP는 위치 미수집 → 신고 불필요, Phase 1부터 착수.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59404" y="2103120"/>
            <a:ext cx="2453564" cy="31089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733724" y="2423160"/>
            <a:ext cx="658368" cy="658368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460" y="2596896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3724" y="3246120"/>
            <a:ext cx="19506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기본법 (2026.1.22)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733724" y="3840480"/>
            <a:ext cx="19506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생성형 AI 결과물에 'AI 생성' 표시 의무. → '🐾 AI가 작성했어요' 라벨 + 메타데이터 + 약관 고지로 대응.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78728" y="2103120"/>
            <a:ext cx="2453564" cy="31089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53048" y="2423160"/>
            <a:ext cx="658368" cy="658368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6784" y="259689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53048" y="3246120"/>
            <a:ext cx="19506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Apple 1.2 (UGC)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553048" y="3840480"/>
            <a:ext cx="19506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필터링·신고·차단·연락처 4대 의무. → 3계층 모더레이션 + 신고/차단 기능을 MVP에 내장.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098051" y="2103120"/>
            <a:ext cx="2453564" cy="3108960"/>
          </a:xfrm>
          <a:prstGeom prst="roundRect">
            <a:avLst>
              <a:gd name="adj" fmla="val 3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72371" y="2423160"/>
            <a:ext cx="658368" cy="658368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107" y="259689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72371" y="3246120"/>
            <a:ext cx="19506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동네 친구 지도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372371" y="3840480"/>
            <a:ext cx="19506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스토킹·역추적·아동·심사 4중 리스크. → 근사위치·상호동의·기본OFF·14세미만차단 갖춘 Phase 2에만 개방.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원칙: "위치를 쓴다"가 리스크가 아니라 "실시간 위치를 + 모르는 사람에게 + 정확히" 노출하는 것이 리스크. 하나만 끊어도 급감한다.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빠르게 검증하고, 막히지 않게 짓는다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48785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57400"/>
            <a:ext cx="2487854" cy="109728"/>
          </a:xfrm>
          <a:prstGeom prst="rect">
            <a:avLst/>
          </a:prstGeom>
          <a:solidFill>
            <a:srgbClr val="91AD4B"/>
          </a:solidFill>
          <a:ln/>
        </p:spPr>
      </p:sp>
      <p:sp>
        <p:nvSpPr>
          <p:cNvPr id="6" name="Shape 4"/>
          <p:cNvSpPr/>
          <p:nvPr/>
        </p:nvSpPr>
        <p:spPr>
          <a:xfrm>
            <a:off x="1518247" y="2423160"/>
            <a:ext cx="731520" cy="7315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983" y="25968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918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(Frontend)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685032"/>
            <a:ext cx="21220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Flutter (iOS·Android 단일 코드)</a:t>
            </a:r>
            <a:endParaRPr lang="en-US" sz="10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Riverpod · FlutterFlow 호환 이관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3447974" y="2057400"/>
            <a:ext cx="248785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47974" y="2057400"/>
            <a:ext cx="2487854" cy="109728"/>
          </a:xfrm>
          <a:prstGeom prst="rect">
            <a:avLst/>
          </a:prstGeom>
          <a:solidFill>
            <a:srgbClr val="58742E"/>
          </a:solidFill>
          <a:ln/>
        </p:spPr>
      </p:sp>
      <p:sp>
        <p:nvSpPr>
          <p:cNvPr id="12" name="Shape 9"/>
          <p:cNvSpPr/>
          <p:nvPr/>
        </p:nvSpPr>
        <p:spPr>
          <a:xfrm>
            <a:off x="4326141" y="2423160"/>
            <a:ext cx="731520" cy="7315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877" y="259689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7974" y="32918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백엔드 (BaaS)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30854" y="3685032"/>
            <a:ext cx="21220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Firebase — Auth · Firestore(실시간</a:t>
            </a:r>
            <a:endParaRPr lang="en-US" sz="10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동기화) · Storage · FCM · Functions</a:t>
            </a:r>
            <a:endParaRPr lang="en-US" sz="1030" dirty="0"/>
          </a:p>
        </p:txBody>
      </p:sp>
      <p:sp>
        <p:nvSpPr>
          <p:cNvPr id="16" name="Shape 12"/>
          <p:cNvSpPr/>
          <p:nvPr/>
        </p:nvSpPr>
        <p:spPr>
          <a:xfrm>
            <a:off x="6255868" y="2057400"/>
            <a:ext cx="248785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55868" y="2057400"/>
            <a:ext cx="2487854" cy="109728"/>
          </a:xfrm>
          <a:prstGeom prst="rect">
            <a:avLst/>
          </a:prstGeom>
          <a:solidFill>
            <a:srgbClr val="91AD4B"/>
          </a:solidFill>
          <a:ln/>
        </p:spPr>
      </p:sp>
      <p:sp>
        <p:nvSpPr>
          <p:cNvPr id="18" name="Shape 14"/>
          <p:cNvSpPr/>
          <p:nvPr/>
        </p:nvSpPr>
        <p:spPr>
          <a:xfrm>
            <a:off x="7134034" y="2423160"/>
            <a:ext cx="731520" cy="7315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770" y="2596896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5868" y="32918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레이어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38748" y="3685032"/>
            <a:ext cx="21220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API(일기 생성) + 모더레이션</a:t>
            </a:r>
            <a:endParaRPr lang="en-US" sz="10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Cloud Functions 게이트웨이로 키 보호</a:t>
            </a:r>
            <a:endParaRPr lang="en-US" sz="1030" dirty="0"/>
          </a:p>
        </p:txBody>
      </p:sp>
      <p:sp>
        <p:nvSpPr>
          <p:cNvPr id="22" name="Shape 17"/>
          <p:cNvSpPr/>
          <p:nvPr/>
        </p:nvSpPr>
        <p:spPr>
          <a:xfrm>
            <a:off x="9063761" y="2057400"/>
            <a:ext cx="2487854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063761" y="2057400"/>
            <a:ext cx="2487854" cy="109728"/>
          </a:xfrm>
          <a:prstGeom prst="rect">
            <a:avLst/>
          </a:prstGeom>
          <a:solidFill>
            <a:srgbClr val="58742E"/>
          </a:solidFill>
          <a:ln/>
        </p:spPr>
      </p:sp>
      <p:sp>
        <p:nvSpPr>
          <p:cNvPr id="24" name="Shape 19"/>
          <p:cNvSpPr/>
          <p:nvPr/>
        </p:nvSpPr>
        <p:spPr>
          <a:xfrm>
            <a:off x="9941928" y="2423160"/>
            <a:ext cx="731520" cy="731520"/>
          </a:xfrm>
          <a:prstGeom prst="ellipse">
            <a:avLst/>
          </a:prstGeom>
          <a:solidFill>
            <a:srgbClr val="EFF5E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5664" y="2596896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63761" y="3291840"/>
            <a:ext cx="24878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· 운영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246641" y="3685032"/>
            <a:ext cx="21220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GA4 · Mixpanel(KPI 퍼널)</a:t>
            </a:r>
            <a:endParaRPr lang="en-US" sz="103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Crashlytics · Sentry · Remote Config</a:t>
            </a:r>
            <a:endParaRPr lang="en-US" sz="1030" dirty="0"/>
          </a:p>
        </p:txBody>
      </p:sp>
      <p:sp>
        <p:nvSpPr>
          <p:cNvPr id="28" name="Shape 22"/>
          <p:cNvSpPr/>
          <p:nvPr/>
        </p:nvSpPr>
        <p:spPr>
          <a:xfrm>
            <a:off x="640080" y="4617720"/>
            <a:ext cx="10911535" cy="1463040"/>
          </a:xfrm>
          <a:prstGeom prst="roundRect">
            <a:avLst>
              <a:gd name="adj" fmla="val 6250"/>
            </a:avLst>
          </a:prstGeom>
          <a:solidFill>
            <a:srgbClr val="2E3D16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92040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0020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노코드 vs 코드 — 결정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1051560" y="534924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Phase 0는 FlutterFlow로 빠르게 가설 검증·팬덤 확보. 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단, 인앱결제·LLM 호출 등 심사 민감/복잡 로직은 Custom Code·Cloud Functions로 분리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한다. PMF 신호 후 Flutter 네이티브로 이관. (FlutterFlow는 iOS 리젝 빈번 → 출시 전 심사 체크리스트 필수)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무엇을 보면 성공인가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381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8600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일기 수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78408" y="292608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가설 KPI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327355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가입자당 일기 생성률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3938" y="2011680"/>
            <a:ext cx="342381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978" y="228600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D1·D7·D30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722266" y="292608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리텐션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2266" y="327355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감성 콘텐츠가 습관이 되는가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2011680"/>
            <a:ext cx="3423818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47837" y="2286000"/>
            <a:ext cx="28751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수정율 ↓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66125" y="2926080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공감도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6125" y="3273552"/>
            <a:ext cx="28751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 없이 저장하는 비율 ↑ = 학습 성공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EFF5E1"/>
          </a:solidFill>
          <a:ln w="12700">
            <a:solidFill>
              <a:srgbClr val="91AD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742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기각선 (Go / No-Go)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75488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D7 리텐션 &lt; 20%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감성 콘텐츠 가설 재검토
</a:t>
            </a:r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동기화 사용 가구 &lt; 30%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공동육아 가치 재평가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4114800"/>
            <a:ext cx="5272888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FD4"/>
            </a:solidFill>
            <a:prstDash val="solid"/>
          </a:ln>
          <a:effectLst>
            <a:outerShdw sx="100000" sy="100000" kx="0" ky="0" algn="bl" rotWithShape="0" blurRad="114300" dist="38100" dir="5400000">
              <a:srgbClr val="8A7B55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98768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5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지표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98768" y="475488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사진 업로드 → 일기 완성 전환율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가족 초대 수락률 · 팔로우/피드 상호작용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(Phase 1+) 포인트 구매율 · 프리미엄 전환율
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887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MBTI 완료율 · 금칙어 필터 적발/오차단율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3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1AD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99855" y="640080"/>
            <a:ext cx="2743200" cy="2743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1005840"/>
            <a:ext cx="777240" cy="777240"/>
          </a:xfrm>
          <a:prstGeom prst="ellipse">
            <a:avLst/>
          </a:prstGeom>
          <a:solidFill>
            <a:srgbClr val="91AD4B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207008"/>
            <a:ext cx="374904" cy="37490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딱 한 가지만 검증한다.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"우리 아이 일기를 매일 쓰게 되는가."</a:t>
            </a:r>
            <a:endParaRPr lang="en-US" sz="3800" dirty="0"/>
          </a:p>
        </p:txBody>
      </p:sp>
      <p:sp>
        <p:nvSpPr>
          <p:cNvPr id="8" name="Shape 4"/>
          <p:cNvSpPr/>
          <p:nvPr/>
        </p:nvSpPr>
        <p:spPr>
          <a:xfrm>
            <a:off x="640080" y="4297680"/>
            <a:ext cx="3139440" cy="868680"/>
          </a:xfrm>
          <a:prstGeom prst="roundRect">
            <a:avLst>
              <a:gd name="adj" fmla="val 10526"/>
            </a:avLst>
          </a:prstGeom>
          <a:solidFill>
            <a:srgbClr val="3D5122"/>
          </a:solidFill>
          <a:ln w="12700">
            <a:solidFill>
              <a:srgbClr val="91AD4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1440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14400" y="4681728"/>
            <a:ext cx="263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FlutterFlow '보리의 머릿속' 첫 화면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099560" y="4297680"/>
            <a:ext cx="3139440" cy="868680"/>
          </a:xfrm>
          <a:prstGeom prst="roundRect">
            <a:avLst>
              <a:gd name="adj" fmla="val 10526"/>
            </a:avLst>
          </a:prstGeom>
          <a:solidFill>
            <a:srgbClr val="3D5122"/>
          </a:solidFill>
          <a:ln w="12700">
            <a:solidFill>
              <a:srgbClr val="91AD4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37388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373880" y="4681728"/>
            <a:ext cx="263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프롬프트·강아지 말투 샘플 수집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559040" y="4297680"/>
            <a:ext cx="3139440" cy="868680"/>
          </a:xfrm>
          <a:prstGeom prst="roundRect">
            <a:avLst>
              <a:gd name="adj" fmla="val 10526"/>
            </a:avLst>
          </a:prstGeom>
          <a:solidFill>
            <a:srgbClr val="3D5122"/>
          </a:solidFill>
          <a:ln w="12700">
            <a:solidFill>
              <a:srgbClr val="91AD4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3336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833360" y="4681728"/>
            <a:ext cx="2636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EAF0D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감성 3종 MVP 비공개 베타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40080" y="5852160"/>
            <a:ext cx="10058400" cy="0"/>
          </a:xfrm>
          <a:prstGeom prst="line">
            <a:avLst/>
          </a:prstGeom>
          <a:noFill/>
          <a:ln w="12700">
            <a:solidFill>
              <a:srgbClr val="55663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1AD4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강아지의 시선  ·  Dog's POV Diary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979615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8FA06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"인간 중심의 딱딱한 펫 앱은 끝났다."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강아지의 시선 — Pitch Deck</dc:title>
  <dc:subject>PptxGenJS Presentation</dc:subject>
  <dc:creator>강아지의 시선 TF</dc:creator>
  <cp:lastModifiedBy>강아지의 시선 TF</cp:lastModifiedBy>
  <cp:revision>1</cp:revision>
  <dcterms:created xsi:type="dcterms:W3CDTF">2026-05-31T10:46:32Z</dcterms:created>
  <dcterms:modified xsi:type="dcterms:W3CDTF">2026-05-31T10:46:32Z</dcterms:modified>
</cp:coreProperties>
</file>